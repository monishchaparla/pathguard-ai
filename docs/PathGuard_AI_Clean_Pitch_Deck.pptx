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1054577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4000" b="1">
                <a:solidFill>
                  <a:srgbClr val="E65100"/>
                </a:solidFill>
              </a:defRPr>
            </a:pPr>
            <a:r>
              <a:t>PATHGUARD-AI</a:t>
            </a:r>
          </a:p>
          <a:p>
            <a:pPr>
              <a:spcBef>
                <a:spcPts val="800"/>
              </a:spcBef>
              <a:defRPr sz="1900" b="1">
                <a:solidFill>
                  <a:srgbClr val="0F172A"/>
                </a:solidFill>
              </a:defRPr>
            </a:pPr>
            <a:r>
              <a:t>Autonomous Road Infrastructure Quality &amp; Statutory Contract Compliance Engine</a:t>
            </a:r>
          </a:p>
          <a:p>
            <a:pPr>
              <a:spcBef>
                <a:spcPts val="1200"/>
              </a:spcBef>
              <a:defRPr sz="1300" b="1">
                <a:solidFill>
                  <a:srgbClr val="0F766E"/>
                </a:solidFill>
              </a:defRPr>
            </a:pPr>
            <a:r>
              <a:t>Detect Damage  •  Measure 3D Volume  •  Enforce Contractor Liability  •  Protect Public Funds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Powered by YOLOv8, MiDaS Monocular Depth, OpenStreetMap Live API, Uber H3 &amp; Supabase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26280"/>
            <a:ext cx="10545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82880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PROJECT CORE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83480"/>
            <a:ext cx="23774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Chaparla Monish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System Architecture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4983480"/>
            <a:ext cx="23774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Mogalapu Hasini Priya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Vision &amp; Depth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983480"/>
            <a:ext cx="23774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Pappala Likhitha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Geospatial &amp; H3 Dedup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4983480"/>
            <a:ext cx="23774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Malapati Mamatha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DLP Contracts &amp; Cloud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STORY NARRATIVE •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Commuter's Dilemma: Why Road Repairs Keep Failing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1. The Morning Collision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💥 Sudden Crater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Ravi drives to work on a newly recarpeted highway. BANG! An invisible deep crater bursts his tire and damages the axle. 'This road was tarred just 3 months ago!'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2. The Bureaucracy Maze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📞 Missing Accountability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Ravi calls the helpline. Officer: 'Sir, it is under a 5-year contractor warranty, but we have no proof of which contractor paved this exact 10-meter stretch!'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3. The Taxpayer Loss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💸 Public Funds Wasted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Contractors collect their 5% retention guarantee. The city issues a duplicate emergency tender. Taxpayers pay twice while the same pothole sits for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STORY NARRATIVE •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 PathGuard-AI: Instant Detection &amp; Legal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400" b="1">
                <a:solidFill>
                  <a:srgbClr val="0F766E"/>
                </a:solidFill>
              </a:defRPr>
            </a:pPr>
            <a:r>
              <a:t>1. Mount &amp; AI Sees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📹 45 FPS Edge Vision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Priya mounts a regular dashcam. YOLOv8 detects the pothole instantly. MiDaS extracts physical depth: 6.8 cm! Volumetric integration computes 0.042 m3 repair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400" b="1">
                <a:solidFill>
                  <a:srgbClr val="0F766E"/>
                </a:solidFill>
              </a:defRPr>
            </a:pPr>
            <a:r>
              <a:t>2. Web &amp; Cloud Dedup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🌐 OSM + Uber H3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OpenStreetMap live API resolves 'Delhi-Gurugram Expressway'. PostGIS ST_DWithin clusters passes within 3m — 10 cars drive over it, but only ONE master ticket is created!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400" b="1">
                <a:solidFill>
                  <a:srgbClr val="0F766E"/>
                </a:solidFill>
              </a:defRPr>
            </a:pPr>
            <a:r>
              <a:t>3. Instant Legal Notice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</a:defRPr>
            </a:pPr>
            <a:r>
              <a:t>⚖️ Clause 17 Notice Served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System links NHAI-2023-45 contract: Active 5-Yr DLP! A statutory notice is issued with ₹3,570 cost &amp; a 14-day cure deadline. Contractor repairs in 48 hours!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Architecture: 4 Autonomous Execution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PILLAR 1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Edge Vision &amp; 3D Geometry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• YOLOv8 7-class defect detection</a:t>
            </a:r>
            <a:br/>
            <a:r>
              <a:t>• MiDaS monocular depth (cm)</a:t>
            </a:r>
            <a:br/>
            <a:r>
              <a:t>• Physical volume calculation (m3)</a:t>
            </a:r>
            <a:br/>
            <a:r>
              <a:t>• Adaptive classical CV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PILLAR 2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Geospatial &amp; Web API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• Live OpenStreetMap geocoding</a:t>
            </a:r>
            <a:br/>
            <a:r>
              <a:t>• Highway presets &amp; custom Lat/Lon</a:t>
            </a:r>
            <a:br/>
            <a:r>
              <a:t>• Uber H3 Res 11 (corridor)</a:t>
            </a:r>
            <a:br/>
            <a:r>
              <a:t>• Uber H3 Res 12 (9m2 defect hex)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PILLAR 3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Cloud Spatial Deduplication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• Supabase Cloud PostgreSQL</a:t>
            </a:r>
            <a:br/>
            <a:r>
              <a:t>• PostGIS ST_DWithin (3m radius)</a:t>
            </a:r>
            <a:br/>
            <a:r>
              <a:t>• Zero Docker container overhead</a:t>
            </a:r>
            <a:br/>
            <a:r>
              <a:t>• Immutable audit trail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55448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PILLAR 4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Statutory eMARG Notice</a:t>
            </a:r>
          </a:p>
          <a:p>
            <a:pPr>
              <a:spcBef>
                <a:spcPts val="1200"/>
              </a:spcBef>
              <a:defRPr sz="1100">
                <a:solidFill>
                  <a:srgbClr val="334155"/>
                </a:solidFill>
              </a:defRPr>
            </a:pPr>
            <a:r>
              <a:t>• MoRTH EPC Clause 17 rules</a:t>
            </a:r>
            <a:br/>
            <a:r>
              <a:t>• Parametric DLP aging (5-10 yrs)</a:t>
            </a:r>
            <a:br/>
            <a:r>
              <a:t>• Schedule of Rates (SOR ₹/m3)</a:t>
            </a:r>
            <a:br/>
            <a:r>
              <a:t>• 14-day statutory cure notice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DEEP VISION &amp;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1: Real-Time Vision &amp; Monocular Depth Extraction</a:t>
            </a:r>
          </a:p>
        </p:txBody>
      </p:sp>
      <p:pic>
        <p:nvPicPr>
          <p:cNvPr id="5" name="Picture 4" descr="reference_defect_detection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51206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554480"/>
            <a:ext cx="51508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How Vision Translates to Physical Repair Data: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IRC:82-2015 7-Class Standard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Detects Potholes, Cracks (Longitudinal, Transverse, Alligator), Rutting, Raveling, and Defective Patching.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Monocular Depth Without Costly LiDAR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Combines camera mounting height (130 cm) with MiDaS monocular depth maps to calculate true physical depth in centimeters.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Volumetric Calculation Formula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Computes true defect volume: V = (2/3) * π * (W/2) * (L/2) * D * 10^-6 m3 to estimate exact asphalt refill needs.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Guaranteed Zero-Crash Fallback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If GPU mixed-precision is unavailable, the adaptive contour fallback engages instantly, maintaining 100% inspection uptime.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GEOSPATIAL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2: Live OpenStreetMap Road &amp; Contractor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1. Live Web Road Geocoding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Real-Time Reverse Geocoding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Queries OpenStreetMap Nominatim live web API at edge speed to automatically resolve road names, city, district, and state from coordinates.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Pavement Standard Inference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Automatically maps highway hierarchy: Motorways -&gt; Flexible Bituminous (IRC:37); Primary roads -&gt; Rigid Concrete (IRC:58); Tertiary -&gt; PMGSY Rural.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Preset Indian Expressways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Quick-select presets for NH-48 Delhi-Gurugram, NH-44 Bengaluru Silk Board, Mumbai-Pune Expressway, and PVNR Hyderabad.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Custom Lat/Lon Input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Auditors can type any coordinate in India to instantly fetch live road metadata and contractor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2. Uber H3 Hexagonal Indexing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Resolution 11 (Corridor Hexagon)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Averages ~300m across. Organizes highway sectors into macro chunks to monitor multi-kilometer degradation rates.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Resolution 12 (Defect Hexagon)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Averages ~9.2 m2, precisely matching road lane width. Snaps GPS coordinates so GPS drift doesn't move potholes into ditches.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Automated Contractor Matching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Cross-references H3 indices against registered contracts to assign L&amp;T, Navayuga, IRB, or state PWD contractors automatically.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Uniform Neighbor Topology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Hexagons provide equal center-to-center distances to all 6 neighbors, avoiding diagonal distortion present in square grids.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CLOUD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3: Supabase Cloud &amp; 3-Meter Spatial Deduplication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☁️ Migrated to Supabase Cloud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Zero Docker Footprint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Replaced heavy local Docker containers with managed Supabase Cloud PostgreSQL 15 + PostGIS 3.4. No container crashes or VM setup.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Instant Team Sync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Team members and field vehicles connect securely using SSL pooled URIs. Credentials stored safely in .env.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Persistent Audit Register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Stores defect coordinates, road types, physical dimensions, photo paths, contractor IDs, and repair statuses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📍 PostGIS ST_DWithin (3m Radius)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Sub-Millisecond Spatial Lookup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When a defect is detected, PostGIS checks ST_DWithin(geom, 3.0m) to see if that pothole already exists.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MERGE Instead of DUPLICATE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If a car drives over the same pothole twice, the system merges the record, updating it with the worst-case depth and clearer photo.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Stops Municipal Billing Fraud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Eliminates duplicate complaints and ensures city authorities are billed only once for genuine unique road defects.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LEGAL &amp; DLP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Module 4: Statutory Liability &amp; Automated Legal Notices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Statutory Defect Liability Framework: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MoRTH EPC Clause 17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Mandates 5-Year DLP for Bituminous Flexible Pavements (IRC:37) and 10-Year DLP for Concrete Pavements (IRC:58).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PMGSY Rural (eMARG)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Requires 5-Year contractor maintenance with bi-monthly geo-tagged photographic inspection evidence.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Parametric Workmanship Scoring (Sd)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Calculates Sd based on defect severity, pavement age vs DLP lifespan, and actual traffic load (ESAL). If Sd &gt;= 1.0, it is classified as ACTIONABLE_CONTRACTOR_DEFECT.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⚖️ Live Generated Notice of Liability</a:t>
            </a:r>
          </a:p>
          <a:p>
            <a:pPr>
              <a:spcBef>
                <a:spcPts val="1000"/>
              </a:spcBef>
              <a:defRPr sz="1000">
                <a:solidFill>
                  <a:srgbClr val="334155"/>
                </a:solidFill>
              </a:defRPr>
            </a:pPr>
            <a:r>
              <a:t>TO: L&amp;T Infrastructure Engineering Ltd (NHAI-2023-DL-48)</a:t>
            </a:r>
            <a:br/>
            <a:r>
              <a:t>CORRIDOR: Delhi-Gurugram Expressway (NH-48)</a:t>
            </a:r>
            <a:br/>
            <a:br/>
            <a:r>
              <a:t>STATUTORY NOTICE UNDER CLAUSE 17:</a:t>
            </a:r>
            <a:br/>
            <a:r>
              <a:t>• Defect: HIGH SEVERITY POTHOLE (Depth: 6.8 cm, Vol: 0.042 m3)</a:t>
            </a:r>
            <a:br/>
            <a:r>
              <a:t>• Spatial Hex: 8c61... | GPS: 28.4975° N, 77.0865° E</a:t>
            </a:r>
            <a:br/>
            <a:r>
              <a:t>• MoRTH Schedule of Rates (SOR) Cost: ₹3,570 INR</a:t>
            </a:r>
            <a:br/>
            <a:r>
              <a:t>• Status: ACTIVE DEFECT LIABILITY PERIOD</a:t>
            </a:r>
            <a:br/>
            <a:br/>
            <a:r>
              <a:t>STATUTORY DIRECTIVE:</a:t>
            </a:r>
            <a:br/>
            <a:r>
              <a:t>Rectify defect within 14 Business Days. Failure authorizes third-party repair charged against contractor's Performance Bank Guarantee (PBG) retention escrow.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EMBEDDED VIDEO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Video Demonstration: Real-Time Road Defect Assessment</a:t>
            </a:r>
          </a:p>
        </p:txBody>
      </p:sp>
      <p:pic>
        <p:nvPicPr>
          <p:cNvPr id="5" name="expected_demo_outpu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" y="1554480"/>
            <a:ext cx="54864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554480"/>
            <a:ext cx="47850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📹 What You Are Seeing in the Video: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Real-Time AI Detection Overlay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Bounding boxes with corner brackets pin defect boundaries at 45+ FPS.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Physical Depth &amp; Volume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Live reading of depth (cm) and volume (m3) computed without LiDAR hardware.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MoRTH Schedule of Rates (SOR)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Cost calculated in real-time in Indian Rupees (₹) based on official MoRTH asphalt repair rates.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Active Contractor &amp; DLP Status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Banner tags the responsible EPC contractor (L&amp;T / NHAI) and confirms active Clause 17 liability.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PostGIS Cloud Deduplication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Syncs directly to Supabase Cloud; multiple passes merge seamlessly within 3m radius.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FRONTEND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Windshield Dashboard: Real-Time Assessment Interface</a:t>
            </a:r>
          </a:p>
        </p:txBody>
      </p:sp>
      <p:pic>
        <p:nvPicPr>
          <p:cNvPr id="5" name="Picture 4" descr="reference_defect_detection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51206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48095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Dashboard Features &amp; Interactive Controls: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Dashcam Video Upload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Drag-and-drop any .mp4 or .mov dashcam video. Runs real-time frame inference with bounding boxes and physical depth overlay.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Interactive Lat/Lon &amp; Web Resolution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Select preset highways or enter custom coordinates. Live OSM web call resolves road name and contractor in 0.2s.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3D Pydeck Spatial Hexagon Grid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Visualizes defect density across road corridors with interactive 3D camera elevation angles and color-coded severity tiers.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Live Supabase Sync Telemetry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Real-time counters tracking Total Defects Logged, Critical Violations, Supabase Records Synced, and Total Liability in 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TECHNICAL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Feasibility: Low Cost, 45+ FPS &amp; High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⚡ 45+ FPS Edge Speed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Real-Time Inference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Runs on modern laptop GPUs (RTX 5050) and edge SBCs (Jetson Orin). Fallback CPU pipeline runs smoothly at 18 FPS.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💰 Under ₹4,000 Total Cost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Zero Special Hardware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Works with existing consumer dashcams or Android smartphones. No ₹25-Lakh LiDAR survey vans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☁️ Zero Server DevOps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Supabase Cloud DB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PostgreSQL + PostGIS hosted on Supabase Cloud. Zero local maintenance, zero Docker daemon crashes, auto-scaling.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🔋 Low Power Consumption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Vehicle Powered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Draws under 15W. Powered directly from standard 12V vehicle cigarette lighter adapter or USB-C power bank.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84048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🌐 Offline Resilience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Store-and-Forward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Queues defect records locally if rural 4G/5G signal drops, syncing automatically to Supabase upon reconnection.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📜 Regulatory Alignment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MoRTH &amp; eMARG Native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Directly aligns with MoRTH EPC Clause 17, PMGSY 5-year maintenance norms, and IRC:82 repair guidelines.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54577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64592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TEAM: Chaparla Monish  |  Mogalapu Hasini Priya  |  Pappala Likhitha  |  Malapati Mamatha</a:t>
            </a:r>
          </a:p>
          <a:p>
            <a:pPr>
              <a:spcBef>
                <a:spcPts val="200"/>
              </a:spcBef>
              <a:defRPr sz="1000">
                <a:solidFill>
                  <a:srgbClr val="E65100"/>
                </a:solidFill>
              </a:defRPr>
            </a:pPr>
            <a:r>
              <a:t>GitHub: github.com/monishchaparla/PathGuard-AI  |  Expected Demo Video: docs/demo_outputs/expected_demo_output.mp4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CONCLUSION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Why PathGuard-AI Wins: Complete Hackathon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5775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Hackathon Evaluation Alignment Scorecard:</a:t>
            </a:r>
          </a:p>
          <a:p>
            <a:pPr>
              <a:spcBef>
                <a:spcPts val="800"/>
              </a:spcBef>
              <a:defRPr sz="1250" b="1">
                <a:solidFill>
                  <a:srgbClr val="0F766E"/>
                </a:solidFill>
              </a:defRPr>
            </a:pPr>
            <a:r>
              <a:t>1. Technical Depth &amp; Innovation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End-to-end integration: YOLOv8 defect detection + MiDaS 3D depth + OpenStreetMap live web geocoding + Uber H3 hexagons + Supabase PostGIS spatial deduplication.</a:t>
            </a:r>
          </a:p>
          <a:p>
            <a:pPr>
              <a:spcBef>
                <a:spcPts val="800"/>
              </a:spcBef>
              <a:defRPr sz="1250" b="1">
                <a:solidFill>
                  <a:srgbClr val="0F766E"/>
                </a:solidFill>
              </a:defRPr>
            </a:pPr>
            <a:r>
              <a:t>2. Real-World Feasibility &amp; Working Code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Working code tested with real Roboflow dataset images, live browser UI with video upload, custom Lat/Lon inputs, and sub-second web road detection.</a:t>
            </a:r>
          </a:p>
          <a:p>
            <a:pPr>
              <a:spcBef>
                <a:spcPts val="800"/>
              </a:spcBef>
              <a:defRPr sz="1250" b="1">
                <a:solidFill>
                  <a:srgbClr val="0F766E"/>
                </a:solidFill>
              </a:defRPr>
            </a:pPr>
            <a:r>
              <a:t>3. Measurable Economic &amp; Social Impact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Transforms a ₹15,000 Crore public loss into contractor accountability, eliminating duplicate repair billing and preventing fatal road accidents.</a:t>
            </a:r>
          </a:p>
          <a:p>
            <a:pPr>
              <a:spcBef>
                <a:spcPts val="800"/>
              </a:spcBef>
              <a:defRPr sz="1250" b="1">
                <a:solidFill>
                  <a:srgbClr val="0F766E"/>
                </a:solidFill>
              </a:defRPr>
            </a:pPr>
            <a:r>
              <a:t>4. Clean Modular Engineering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</a:defRPr>
            </a:pPr>
            <a:r>
              <a:t>Clean Python architecture (pathguard.vision, pathguard.spatial, pathguard.database, pathguard.geocoding, pathguard.contracts) synced to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