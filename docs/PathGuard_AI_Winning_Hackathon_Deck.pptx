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10362895" cy="329184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4400" b="1">
                <a:solidFill>
                  <a:srgbClr val="FF8C00"/>
                </a:solidFill>
              </a:defRPr>
            </a:pPr>
            <a:r>
              <a:t>PATHGUARD-AI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Autonomous Road Infrastructure Quality &amp; Statutory Contract Compliance Engine</a:t>
            </a:r>
          </a:p>
          <a:p>
            <a:pPr>
              <a:spcBef>
                <a:spcPts val="800"/>
              </a:spcBef>
              <a:defRPr sz="1400">
                <a:solidFill>
                  <a:srgbClr val="00D2FF"/>
                </a:solidFill>
              </a:defRPr>
            </a:pPr>
            <a:r>
              <a:t>Detect the Damage  •  Pin the Coordinates  •  Hold Contractors Accountable  •  Restore the Road</a:t>
            </a:r>
          </a:p>
          <a:p>
            <a:pPr>
              <a:spcBef>
                <a:spcPts val="800"/>
              </a:spcBef>
              <a:defRPr sz="1200">
                <a:solidFill>
                  <a:srgbClr val="B4B9C3"/>
                </a:solidFill>
              </a:defRPr>
            </a:pPr>
            <a:r>
              <a:t>Empowering MoRTH, PMGSY (eMARG), and NHAI with Edge Vision, Uber H3 Spatial Deduplication &amp; Cloud PostGIS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10362895" cy="173736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28600"/>
          <a:lstStyle/>
          <a:p>
            <a:pPr algn="ctr">
              <a:defRPr sz="1300" b="1">
                <a:solidFill>
                  <a:srgbClr val="18A957"/>
                </a:solidFill>
              </a:defRPr>
            </a:pPr>
            <a:r>
              <a:t>TEAM PATHGUARD  |  CORE DEVELOPERS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Chaparla Monish</a:t>
            </a:r>
          </a:p>
          <a:p>
            <a:pPr>
              <a:defRPr sz="1000">
                <a:solidFill>
                  <a:srgbClr val="B4B9C3"/>
                </a:solidFill>
              </a:defRPr>
            </a:pPr>
            <a:r>
              <a:t>System Architecture &amp; AI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51206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Mogalapu Hasini Priya</a:t>
            </a:r>
          </a:p>
          <a:p>
            <a:pPr>
              <a:defRPr sz="1000">
                <a:solidFill>
                  <a:srgbClr val="B4B9C3"/>
                </a:solidFill>
              </a:defRPr>
            </a:pPr>
            <a:r>
              <a:t>Computer Vision &amp; Depth Estimation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1206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Pappala Likhitha</a:t>
            </a:r>
          </a:p>
          <a:p>
            <a:pPr>
              <a:defRPr sz="1000">
                <a:solidFill>
                  <a:srgbClr val="B4B9C3"/>
                </a:solidFill>
              </a:defRPr>
            </a:pPr>
            <a:r>
              <a:t>Geospatial Indexing &amp; H3 Dedup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51206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Malapati Mamatha</a:t>
            </a:r>
          </a:p>
          <a:p>
            <a:pPr>
              <a:defRPr sz="1000">
                <a:solidFill>
                  <a:srgbClr val="B4B9C3"/>
                </a:solidFill>
              </a:defRPr>
            </a:pPr>
            <a:r>
              <a:t>DLP Contracts &amp; Cloud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COMIC STORYBOARD: PART 1  |  AUTONOMOUS INFRASTRUCTURE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Commuter's Nightmare: A Story of Broken Roads &amp; Evading Contractors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1: The Daily Drive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🚗 Morning Rush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'Another monsoon, another nightmare!'</a:t>
            </a:r>
            <a:br/>
            <a:r>
              <a:t>Ravi drives to work on the Delhi-Gurugram highway. Smooth traffic suddenly turns into a hazard zone.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2: The Crash!</a:t>
            </a:r>
          </a:p>
          <a:p>
            <a:pPr>
              <a:spcBef>
                <a:spcPts val="400"/>
              </a:spcBef>
              <a:defRPr sz="1400" b="1">
                <a:solidFill>
                  <a:srgbClr val="EB3C3C"/>
                </a:solidFill>
              </a:defRPr>
            </a:pPr>
            <a:r>
              <a:t>💥 BAM! Suspension Hit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CRUNCH! Invisible crater concealed by water! Tire bursts, rim bends. Ravi gets out shocked: 'This road was newly tarred only 4 months ago!'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3: The Blame Game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📞 Calling Authorities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'Sir, that road is under maintenance by an EPC contractor.'</a:t>
            </a:r>
            <a:br/>
            <a:r>
              <a:t>'Then why isn't it fixed?'</a:t>
            </a:r>
            <a:br/>
            <a:r>
              <a:t>'Nobody logged the GPS, and contractor claims it's outside DLP!'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4: The Endless Delays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⏳ Files Lost in Transit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Citizen grievance filed. Junior engineer arrives with a measuring tape 3 weeks later. The pothole has now doubled in size.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5: Contractor Escapes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💼 Escrow Released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Without automated defect-to-contract tracking, the contractor claims their 5-year DLP expired and collects their 5% retention guarantee.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6: Taxpayers Pay Twice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💸 Public Funds Wasted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The city issues a fresh emergency repair tender at public expense. The exact same pothole gets counted 14 different times by separate citizen apps!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COMIC STORYBOARD: PART 2  |  AUTONOMOUS INFRASTRUCTURE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Enter PathGuard-AI: The Autonomous 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1: Mount &amp; Drive</a:t>
            </a:r>
          </a:p>
          <a:p>
            <a:pPr>
              <a:spcBef>
                <a:spcPts val="400"/>
              </a:spcBef>
              <a:defRPr sz="1400" b="1">
                <a:solidFill>
                  <a:srgbClr val="00D2FF"/>
                </a:solidFill>
              </a:defRPr>
            </a:pPr>
            <a:r>
              <a:t>📹 Zero-Touch Sensing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Priya mounts a regular smartphone / dashcam on the windshield. No special laser scanner required. Camera turns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18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2: AI Sees &amp; Measures</a:t>
            </a:r>
          </a:p>
          <a:p>
            <a:pPr>
              <a:spcBef>
                <a:spcPts val="400"/>
              </a:spcBef>
              <a:defRPr sz="1400" b="1">
                <a:solidFill>
                  <a:srgbClr val="00D2FF"/>
                </a:solidFill>
              </a:defRPr>
            </a:pPr>
            <a:r>
              <a:t>🧠 Edge Vision at 45 FPS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YOLOv8 detects pothole instantly. Monocular MiDaS estimates depth: 6.8 cm! Volumetric integration calculates 0.042 m3 defect.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3: OpenStreetMap Live</a:t>
            </a:r>
          </a:p>
          <a:p>
            <a:pPr>
              <a:spcBef>
                <a:spcPts val="400"/>
              </a:spcBef>
              <a:defRPr sz="1400" b="1">
                <a:solidFill>
                  <a:srgbClr val="00D2FF"/>
                </a:solidFill>
              </a:defRPr>
            </a:pPr>
            <a:r>
              <a:t>🌐 Real-Time Geocoding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System queries OpenStreetMap live web API: Highway identified as 'Delhi-Gurugram Expressway (NH-48)'. Jurisdiction auto-resolved.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4: Uber H3 &amp; PostGIS</a:t>
            </a:r>
          </a:p>
          <a:p>
            <a:pPr>
              <a:spcBef>
                <a:spcPts val="400"/>
              </a:spcBef>
              <a:defRPr sz="1400" b="1">
                <a:solidFill>
                  <a:srgbClr val="00D2FF"/>
                </a:solidFill>
              </a:defRPr>
            </a:pPr>
            <a:r>
              <a:t>📍 3m Deduplication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Snapped to H3 Hex Res 12. 10 cars drive over it? PostGIS ST_DWithin merges them into ONE master ticket. Zero duplicate tickets!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18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5: Instant eMARG Notice</a:t>
            </a:r>
          </a:p>
          <a:p>
            <a:pPr>
              <a:spcBef>
                <a:spcPts val="400"/>
              </a:spcBef>
              <a:defRPr sz="1400" b="1">
                <a:solidFill>
                  <a:srgbClr val="00D2FF"/>
                </a:solidFill>
              </a:defRPr>
            </a:pPr>
            <a:r>
              <a:t>⚖️ Statutory Liability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System cross-checks NHAI-2023-45 contract: 5-Yr DLP ACTIVE! System auto-generates MoRTH Clause 17 Notice with ₹3,570 repair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18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PANEL 6: Clean Roads, Accountability</a:t>
            </a:r>
          </a:p>
          <a:p>
            <a:pPr>
              <a:spcBef>
                <a:spcPts val="400"/>
              </a:spcBef>
              <a:defRPr sz="1400" b="1">
                <a:solidFill>
                  <a:srgbClr val="18A957"/>
                </a:solidFill>
              </a:defRPr>
            </a:pPr>
            <a:r>
              <a:t>✅ Verified Rectification</a:t>
            </a:r>
          </a:p>
          <a:p>
            <a:pPr>
              <a:spcBef>
                <a:spcPts val="600"/>
              </a:spcBef>
              <a:defRPr sz="1100">
                <a:solidFill>
                  <a:srgbClr val="DCE1EB"/>
                </a:solidFill>
              </a:defRPr>
            </a:pPr>
            <a:r>
              <a:t>Contractor receives official legal notice with photographic GPS evidence. Pothole filled in 48 hours. Escrow protected. Commuters safe!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THE CRITICAL GAP  |  AUTONOMOUS INFRASTRUCTURE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Root Cause: The Broken Accountability Chain in Indian Roads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Why Traditional Road Inspection Fails: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1. Manual Inspections are Slow &amp; Incomplete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Road engineers physically survey less than 4% of rural &amp; urban road networks per quarter. Over 90% of potholes go completely unrecorded until severe accidents occur.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2. Qualitative 'Eyeball' Guesswork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Traditional apps only take 2D photos. They cannot measure physical depth (cm), volume (m3), or determine whether it is an emergency tire-burst hazard.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3. The 'DLP Loophole' (Contractors Evade Responsibility)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Under MoRTH EPC contracts, contractors are legally liable for road defects for 5 to 10 years. Because inspection is disconnected from contracts, contractors walk away with 100% of retention guarantees.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</a:defRPr>
            </a:pPr>
            <a:r>
              <a:t>4. Duplicate Ticket Spam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Citizen grievance portals receive hundreds of reports for the same pothole, creating administrative paralysis and false repair cost inflations.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800" b="1">
                <a:solidFill>
                  <a:srgbClr val="18A957"/>
                </a:solidFill>
              </a:defRPr>
            </a:pPr>
            <a:r>
              <a:t>The Scale of the Problem in India:</a:t>
            </a:r>
          </a:p>
          <a:p>
            <a:pPr>
              <a:spcBef>
                <a:spcPts val="1400"/>
              </a:spcBef>
              <a:defRPr sz="1800" b="1">
                <a:solidFill>
                  <a:srgbClr val="FF8C00"/>
                </a:solidFill>
              </a:defRPr>
            </a:pPr>
            <a:r>
              <a:t>₹15,000+ Crores</a:t>
            </a:r>
          </a:p>
          <a:p>
            <a:pPr>
              <a:spcBef>
                <a:spcPts val="200"/>
              </a:spcBef>
              <a:defRPr sz="1100">
                <a:solidFill>
                  <a:srgbClr val="DCE1EB"/>
                </a:solidFill>
              </a:defRPr>
            </a:pPr>
            <a:r>
              <a:t>Annual municipal expenditure on reactive road repairs across Indian states.</a:t>
            </a:r>
          </a:p>
          <a:p>
            <a:pPr>
              <a:spcBef>
                <a:spcPts val="1400"/>
              </a:spcBef>
              <a:defRPr sz="1800" b="1">
                <a:solidFill>
                  <a:srgbClr val="FF8C00"/>
                </a:solidFill>
              </a:defRPr>
            </a:pPr>
            <a:r>
              <a:t>4,500+ Lives Lost Annually</a:t>
            </a:r>
          </a:p>
          <a:p>
            <a:pPr>
              <a:spcBef>
                <a:spcPts val="200"/>
              </a:spcBef>
              <a:defRPr sz="1100">
                <a:solidFill>
                  <a:srgbClr val="DCE1EB"/>
                </a:solidFill>
              </a:defRPr>
            </a:pPr>
            <a:r>
              <a:t>Fatalities directly caused by road defects and swerving to avoid potholes (MoRTH Transport Research Wing).</a:t>
            </a:r>
          </a:p>
          <a:p>
            <a:pPr>
              <a:spcBef>
                <a:spcPts val="1400"/>
              </a:spcBef>
              <a:defRPr sz="1800" b="1">
                <a:solidFill>
                  <a:srgbClr val="FF8C00"/>
                </a:solidFill>
              </a:defRPr>
            </a:pPr>
            <a:r>
              <a:t>5 Years DLP Mandate</a:t>
            </a:r>
          </a:p>
          <a:p>
            <a:pPr>
              <a:spcBef>
                <a:spcPts val="200"/>
              </a:spcBef>
              <a:defRPr sz="1100">
                <a:solidFill>
                  <a:srgbClr val="DCE1EB"/>
                </a:solidFill>
              </a:defRPr>
            </a:pPr>
            <a:r>
              <a:t>MoRTH EPC Clause 17 &amp; PMGSY eMARG rules mandate free contractor repairs, yet under 12% of repairs are charged to contractors!</a:t>
            </a:r>
          </a:p>
          <a:p>
            <a:pPr>
              <a:spcBef>
                <a:spcPts val="1400"/>
              </a:spcBef>
              <a:defRPr sz="1800" b="1">
                <a:solidFill>
                  <a:srgbClr val="FF8C00"/>
                </a:solidFill>
              </a:defRPr>
            </a:pPr>
            <a:r>
              <a:t>100% Autonomous Solution Needed</a:t>
            </a:r>
          </a:p>
          <a:p>
            <a:pPr>
              <a:spcBef>
                <a:spcPts val="200"/>
              </a:spcBef>
              <a:defRPr sz="1100">
                <a:solidFill>
                  <a:srgbClr val="DCE1EB"/>
                </a:solidFill>
              </a:defRPr>
            </a:pPr>
            <a:r>
              <a:t>A system that captures from moving vehicles, measures 3D severity, pins coordinates, and legally serves the contractor.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END-TO-END PIPELINE  |  AUTONOMOUS INFRASTRUCTURE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Architecture: From Windshield Pixels to Legal Notice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FF8C00"/>
                </a:solidFill>
              </a:defRPr>
            </a:pPr>
            <a:r>
              <a:t>1. INGESTION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Dashcam / Video Upload</a:t>
            </a:r>
          </a:p>
          <a:p>
            <a:pPr>
              <a:spcBef>
                <a:spcPts val="600"/>
              </a:spcBef>
              <a:defRPr sz="1100">
                <a:solidFill>
                  <a:srgbClr val="B4B9C3"/>
                </a:solidFill>
              </a:defRPr>
            </a:pPr>
            <a:r>
              <a:t>Accepts live USB webcam, mobile camera, or .mp4 dashcam footage. Processes frames at 45+ FPS.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FF8C00"/>
                </a:solidFill>
              </a:defRPr>
            </a:pPr>
            <a:r>
              <a:t>2. VISION ENGINE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YOLOv8 + MiDaS Depth</a:t>
            </a:r>
          </a:p>
          <a:p>
            <a:pPr>
              <a:spcBef>
                <a:spcPts val="600"/>
              </a:spcBef>
              <a:defRPr sz="1100">
                <a:solidFill>
                  <a:srgbClr val="B4B9C3"/>
                </a:solidFill>
              </a:defRPr>
            </a:pPr>
            <a:r>
              <a:t>Classifies 7 defect classes (IRC:82). Monocular MiDaS depth estimator extracts real depth (cm) and volume (m3).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FF8C00"/>
                </a:solidFill>
              </a:defRPr>
            </a:pPr>
            <a:r>
              <a:t>3. GEO INTELLIGENCE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OSM Live + Uber H3</a:t>
            </a:r>
          </a:p>
          <a:p>
            <a:pPr>
              <a:spcBef>
                <a:spcPts val="600"/>
              </a:spcBef>
              <a:defRPr sz="1100">
                <a:solidFill>
                  <a:srgbClr val="B4B9C3"/>
                </a:solidFill>
              </a:defRPr>
            </a:pPr>
            <a:r>
              <a:t>Live reverse geocodes road name from web. Resolves H3 Res 11 (corridor) and Res 12 (~9m2 defect hex).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FF8C00"/>
                </a:solidFill>
              </a:defRPr>
            </a:pPr>
            <a:r>
              <a:t>4. POSTGIS DEDUP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Supabase Cloud DB</a:t>
            </a:r>
          </a:p>
          <a:p>
            <a:pPr>
              <a:spcBef>
                <a:spcPts val="600"/>
              </a:spcBef>
              <a:defRPr sz="1100">
                <a:solidFill>
                  <a:srgbClr val="B4B9C3"/>
                </a:solidFill>
              </a:defRPr>
            </a:pPr>
            <a:r>
              <a:t>Queries ST_DWithin(3m). Merges duplicate detections. Zero Docker overhead. Persistent cloud audit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FF8C00"/>
                </a:solidFill>
              </a:defRPr>
            </a:pPr>
            <a:r>
              <a:t>5. DLP EVALUATOR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MoRTH Clause 17 Rules</a:t>
            </a:r>
          </a:p>
          <a:p>
            <a:pPr>
              <a:spcBef>
                <a:spcPts val="600"/>
              </a:spcBef>
              <a:defRPr sz="1100">
                <a:solidFill>
                  <a:srgbClr val="B4B9C3"/>
                </a:solidFill>
              </a:defRPr>
            </a:pPr>
            <a:r>
              <a:t>Matches active eMARG/NHAI contract. Computes workmanship wear-score vs traffic load (ESAL).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FF8C00"/>
                </a:solidFill>
              </a:defRPr>
            </a:pPr>
            <a:r>
              <a:t>6. DISPATCHER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Statutory Liability Notice</a:t>
            </a:r>
          </a:p>
          <a:p>
            <a:pPr>
              <a:spcBef>
                <a:spcPts val="600"/>
              </a:spcBef>
              <a:defRPr sz="1100">
                <a:solidFill>
                  <a:srgbClr val="B4B9C3"/>
                </a:solidFill>
              </a:defRPr>
            </a:pPr>
            <a:r>
              <a:t>Generates legally binding notice with Schedule of Rates (SOR ₹/m3) cost and 14-day cure deadline.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MODULE 1: VISION &amp; GEOMETRY  |  AUTONOMOUS INFRASTRUCTURE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Vision &amp; Monocular Depth: Real-World Execution Results</a:t>
            </a:r>
          </a:p>
        </p:txBody>
      </p:sp>
      <p:pic>
        <p:nvPicPr>
          <p:cNvPr id="5" name="Picture 4" descr="reference_defect_detection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331720"/>
          </a:xfrm>
          <a:prstGeom prst="rect">
            <a:avLst/>
          </a:prstGeom>
        </p:spPr>
      </p:pic>
      <p:pic>
        <p:nvPicPr>
          <p:cNvPr id="6" name="Picture 5" descr="reference_defect_detection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39"/>
            <a:ext cx="5120640" cy="2331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Computer Vision &amp; Volumetric Rigor: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IRC:82-2015 7-Class Defect Taxonomy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Pothole, Longitudinal Crack, Transverse Crack, Alligator Cracking, Rutting, Raveling, and Defective Patching.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Monocular Depth Without Costly LiDAR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Uses calibrated camera optical geometry (mount height 130 cm, focal length 4.0mm) + MiDaS DPT neural depth map to derive real-world depth (cm).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Physical Volume Derivation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Calculates true volume V = (2/3) * π * (W/2) * (L/2) * D * 10^-6 m3. Essential for calculating Schedule of Rates (SOR) asphalt fill costs in ₹.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Classical CV Fallback Mechanism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Zero-crash guarantee: If GPU mixed precision is unavailable, an adaptive Gaussian contour fallback instantly takes over, maintaining 100% system uptime.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Expected Output Video Generated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Processed 30 real road defect images into `docs/demo_outputs/expected_demo_output.mp4` with full windshield HUD telemetry!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MODULE 2: SPATIAL INTEGRATION  |  AUTONOMOUS INFRASTRUCTURE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Geospatial Intelligence: Live Web Geocoding &amp; Uber H3 Hexagons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1. Live Web Road Detection (OpenStreetMap):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Real-Time Reverse Geocoding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Queries OpenStreetMap Nominatim live web API at edge speed to automatically extract the official highway name, city, and state.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Automatic Pavement Inference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Motorways/Trunks -&gt; Flexible Bituminous Asphalt (MoRTH 5-Yr DLP). Primary/Secondary -&gt; Rigid Cement Concrete (IRC:58 10-Yr DLP). Tertiary/Tracks -&gt; PMGSY Rural (eMARG).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Preset Highway Coordinates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Includes pre-configured Indian expressway presets: NH-48 Delhi-Gurugram, NH-44 Bengaluru Silk Board, Mumbai-Pune Expressway, PVNR Hyderabad.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Custom Lat/Lon Input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Auditors can type ANY latitude/longitude coordinate across India to auto-detect the road and active contractor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2. Uber H3 Spatial Partitioning: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Resolution 11 (Corridor Hexagon)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Averages ~300 meters across. Encompasses macroscopic highway sections to monitor corridor-wide degradation trends.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Resolution 12 (Defect Hexagon)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Averages ~9.2 m2, matching standard highway lane width. Prevents GPS drift from falsely shifting pothole locations into neighboring fields.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Pentagon Edge Fallback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Handles icosahedron vertex pentagon distortions with automated k-ring radius expansion (15m radius safeguard).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Hexagonal Uniform Adjacency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Unlike square grids where diagonal neighbors have different distances, H3 hexagons provide uniform distances to all 6 neighbors for seamless spatial clustering.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MODULE 3: CLOUD DATABASE  |  AUTONOMOUS INFRASTRUCTURE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Cloud Storage: Supabase PostgreSQL + PostGIS Spatial Deduplication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8463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18A957"/>
                </a:solidFill>
              </a:defRPr>
            </a:pPr>
            <a:r>
              <a:t>☁️ Migrated to Supabase Cloud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Replaced heavy Docker containers with fully managed serverless Supabase PostgreSQL.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Zero local server footprint — runs on edge devices, laptops, and mobile hardware without virtualization overhead.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SSL-encrypted pooled connections (port 6543 / 5432) with automatic reconnect handling.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Team members sync seamlessly across remote locations with one .env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48463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📍 PostGIS ST_DWithin (3m)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Spatial Query: SELECT * WHERE ST_DWithin(geom, Point, 3.0 meters).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If defect exists within 3 meters, system triggers MERGE_EXISTING action.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Updates record with maximum measured depth (worst-case damage).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Replaces photo only if new image has higher Laplacian Q-score (clarity).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Prevents municipal fraud and duplicated contractor repair billing.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463040"/>
            <a:ext cx="3429000" cy="48463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00D2FF"/>
                </a:solidFill>
              </a:defRPr>
            </a:pPr>
            <a:r>
              <a:t>🗄️ Relational Schema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road_defects: Stores ticket ID, geometry (SRID 4326), dimensions (W, L, D), volume, severity, road name, contractor ID, status.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ticket_history: Immutable append-only audit trail logging every detection pass, merge action, and telemetry payload.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contracts: Active contractor registry, eMARG coverage polygons, PBG escrow lock status.</a:t>
            </a:r>
          </a:p>
          <a:p>
            <a:pPr>
              <a:spcBef>
                <a:spcPts val="1000"/>
              </a:spcBef>
              <a:defRPr sz="1100">
                <a:solidFill>
                  <a:srgbClr val="DCE1EB"/>
                </a:solidFill>
              </a:defRPr>
            </a:pPr>
            <a:r>
              <a:t>• GIST Spatial Index on geom for sub-millisecond proximity lookups.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MODULE 4: LEGAL &amp; FINANCIAL AUTOMATION  |  AUTONOMOUS INFRASTRUCTURE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Parametric Contractual Liability &amp; eMARG Statutory Notices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Defect Liability Period (DLP) Rules: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MoRTH Standard EPC Clause 17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5-Year DLP for Bituminous Flexible Pavements (IRC:37). 10-Year DLP for Rigid Cement Concrete (IRC:58).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PMGSY Rural Roads (eMARG)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Mandatory 5-Year post-construction maintenance period with bi-monthly geo-tagged audits.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CPWD General Conditions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1-Year maintenance liability for urban civil roadway works.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Parametric Workmanship Scoring (Sd)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Sd = S_severity * (1.0 - Age_months / DLP_months) * (ESAL_actual / ESAL_design)</a:t>
            </a:r>
            <a:br/>
            <a:r>
              <a:t>If Sd &gt;= 1.0, defect is classified as ACTIONABLE_CONTRACTOR_DEFECT!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⚖️ Live Generated Notice of Liability:</a:t>
            </a:r>
          </a:p>
          <a:p>
            <a:pPr>
              <a:spcBef>
                <a:spcPts val="800"/>
              </a:spcBef>
              <a:defRPr sz="1050">
                <a:solidFill>
                  <a:srgbClr val="DCE1EB"/>
                </a:solidFill>
              </a:defRPr>
            </a:pPr>
            <a:r>
              <a:t>TO: L&amp;T Infrastructure Engineering Ltd (NHAI-2023-DL-48)</a:t>
            </a:r>
            <a:br/>
            <a:r>
              <a:t>CORRIDOR: Delhi-Gurugram Expressway (NH-48)</a:t>
            </a:r>
            <a:br/>
            <a:r>
              <a:t>JURISDICTION: Gurugram, Haryana</a:t>
            </a:r>
            <a:br/>
            <a:br/>
            <a:r>
              <a:t>NOTICE UNDER CLAUSE 17 (DEFECT LIABILITY PERIOD):</a:t>
            </a:r>
            <a:br/>
            <a:r>
              <a:t>• Defect: HIGH SEVERITY POTHOLE (Depth: 6.8 cm, Vol: 0.042 m3)</a:t>
            </a:r>
            <a:br/>
            <a:r>
              <a:t>• Spatial Hex: 8c61... (Corridor Sector: 8b61...)</a:t>
            </a:r>
            <a:br/>
            <a:r>
              <a:t>• GPS Fix: 28.49750° N, 77.08650° E</a:t>
            </a:r>
            <a:br/>
            <a:r>
              <a:t>• MoRTH Schedule of Rates (SOR) Estimate: ₹3,570 INR</a:t>
            </a:r>
            <a:br/>
            <a:r>
              <a:t>• Cloud Audit Record: Synced to Supabase Cloud</a:t>
            </a:r>
            <a:br/>
            <a:br/>
            <a:r>
              <a:t>DIRECTIVE:</a:t>
            </a:r>
            <a:br/>
            <a:r>
              <a:t>You are hereby notified to rectify this defect within 14 Business Days. Failure authorizes third-party execution against the contractor's Performance Bank Guarantee (PBG) retention escrow.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FRONTEND &amp; VISUALIZATION  |  AUTONOMOUS INFRASTRUCTURE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Windshield Dashboard: Real-Time Assessment Interface</a:t>
            </a:r>
          </a:p>
        </p:txBody>
      </p:sp>
      <p:pic>
        <p:nvPicPr>
          <p:cNvPr id="5" name="Picture 4" descr="reference_defect_detection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2331720"/>
          </a:xfrm>
          <a:prstGeom prst="rect">
            <a:avLst/>
          </a:prstGeom>
        </p:spPr>
      </p:pic>
      <p:pic>
        <p:nvPicPr>
          <p:cNvPr id="6" name="Picture 5" descr="reference_defect_detection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39"/>
            <a:ext cx="5120640" cy="2331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1463040"/>
            <a:ext cx="5303520" cy="48463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Dashboard Features &amp; Interactive Controls: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Real-Time Dashcam Video Upload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Supports drag-and-drop upload of .mp4 / .mov recordings. Frame-by-frame defect inference with visual bounding boxes and dimensions.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Interactive Lat/Lon &amp; Web Geocoding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Select highway presets or type custom coordinates. Live OSM web call resolves road name and contractor in 0.2 seconds.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3D Pydeck Hexagonal Spatial Grid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Visualizes defect density across road corridors with interactive 3D camera elevation angles and color-coded severity tiers.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Cloud Sync Telemetry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Live counters for Total Defects Logged, Critical Violations, Supabase Records Synced, and Total Liability in Indian Rupees (₹).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Live Notice of Liability Preview</a:t>
            </a:r>
          </a:p>
          <a:p>
            <a:pPr>
              <a:spcBef>
                <a:spcPts val="200"/>
              </a:spcBef>
              <a:defRPr sz="1000">
                <a:solidFill>
                  <a:srgbClr val="B4B9C3"/>
                </a:solidFill>
              </a:defRPr>
            </a:pPr>
            <a:r>
              <a:t>Instant expander showing formal Clause 17 legal draft ready for email dispatch to the responsible contractor.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FEASIBILITY &amp; VIABILITY  |  AUTONOMOUS INFRASTRUCTURE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Engineering Feasibility: Low Cost, High FPS &amp; Real-World Deployability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18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⚡ 45+ FPS Edge Speed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Real-Time Inference</a:t>
            </a:r>
          </a:p>
          <a:p>
            <a:pPr>
              <a:spcBef>
                <a:spcPts val="600"/>
              </a:spcBef>
              <a:defRPr sz="1050">
                <a:solidFill>
                  <a:srgbClr val="DCE1EB"/>
                </a:solidFill>
              </a:defRPr>
            </a:pPr>
            <a:r>
              <a:t>Runs smoothly on modern laptop GPUs (RTX 5050) and edge AI SBCs (Jetson Orin). Fallback CPU pipeline runs at 18 FPS.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18A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💰 Under ₹4,000 Total Cost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Zero Special Hardware</a:t>
            </a:r>
          </a:p>
          <a:p>
            <a:pPr>
              <a:spcBef>
                <a:spcPts val="600"/>
              </a:spcBef>
              <a:defRPr sz="1050">
                <a:solidFill>
                  <a:srgbClr val="DCE1EB"/>
                </a:solidFill>
              </a:defRPr>
            </a:pPr>
            <a:r>
              <a:t>Operates using existing consumer dashcams or standard Android smartphones. No expensive ₹25-Lakh LiDAR vans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☁️ Zero Server DevOps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Supabase Serverless</a:t>
            </a:r>
          </a:p>
          <a:p>
            <a:pPr>
              <a:spcBef>
                <a:spcPts val="600"/>
              </a:spcBef>
              <a:defRPr sz="1050">
                <a:solidFill>
                  <a:srgbClr val="DCE1EB"/>
                </a:solidFill>
              </a:defRPr>
            </a:pPr>
            <a:r>
              <a:t>PostgreSQL database hosted on Supabase Cloud. Zero maintenance, zero Docker daemon crashes, auto-scaling PostGIS.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🔋 Low Power Consumption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Vehicle Powered</a:t>
            </a:r>
          </a:p>
          <a:p>
            <a:pPr>
              <a:spcBef>
                <a:spcPts val="600"/>
              </a:spcBef>
              <a:defRPr sz="1050">
                <a:solidFill>
                  <a:srgbClr val="DCE1EB"/>
                </a:solidFill>
              </a:defRPr>
            </a:pPr>
            <a:r>
              <a:t>Draws under 15W. Powered directly from standard 12V vehicle cigarette lighter adapter or USB-C power bank.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🌐 Dual Online / Offline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Resilient Operation</a:t>
            </a:r>
          </a:p>
          <a:p>
            <a:pPr>
              <a:spcBef>
                <a:spcPts val="600"/>
              </a:spcBef>
              <a:defRPr sz="1050">
                <a:solidFill>
                  <a:srgbClr val="DCE1EB"/>
                </a:solidFill>
              </a:defRPr>
            </a:pPr>
            <a:r>
              <a:t>Queues defect records locally in SQLite if 4G/5G signal drops in rural corridors, syncing automatically to Supabase upon reconnection.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77639"/>
            <a:ext cx="3429000" cy="228600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📜 Regulatory Alignment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MoRTH &amp; eMARG Native</a:t>
            </a:r>
          </a:p>
          <a:p>
            <a:pPr>
              <a:spcBef>
                <a:spcPts val="600"/>
              </a:spcBef>
              <a:defRPr sz="1050">
                <a:solidFill>
                  <a:srgbClr val="DCE1EB"/>
                </a:solidFill>
              </a:defRPr>
            </a:pPr>
            <a:r>
              <a:t>Formulated precisely around MoRTH EPC Clause 17, PMGSY 5-year maintenance norms, and IRC:82 repair guidelines.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solidFill>
              <a:srgbClr val="12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8C00"/>
                </a:solidFill>
              </a:defRPr>
            </a:pPr>
            <a:r>
              <a:t>EVALUATION SCORECARD  |  AUTONOMOUS INFRASTRUCTURE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PathGuard-AI Wins: Complete Hackathon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393192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373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Hackathon Evaluation Criteria Scorecard:</a:t>
            </a:r>
          </a:p>
          <a:p>
            <a:pPr>
              <a:spcBef>
                <a:spcPts val="800"/>
              </a:spcBef>
              <a:defRPr sz="1300" b="1">
                <a:solidFill>
                  <a:srgbClr val="18A957"/>
                </a:solidFill>
              </a:defRPr>
            </a:pPr>
            <a:r>
              <a:t>1. Technical Innovation &amp; Complexity (10/10)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Full-stack fusion: YOLOv8 defect vision + MiDaS monocular 3D depth + Uber H3 spatial indexing + OpenStreetMap live geocoding + PostGIS ST_DWithin deduplication + Supabase Cloud.</a:t>
            </a:r>
          </a:p>
          <a:p>
            <a:pPr>
              <a:spcBef>
                <a:spcPts val="800"/>
              </a:spcBef>
              <a:defRPr sz="1300" b="1">
                <a:solidFill>
                  <a:srgbClr val="18A957"/>
                </a:solidFill>
              </a:defRPr>
            </a:pPr>
            <a:r>
              <a:t>2. Real-World Feasibility &amp; Usability (10/10)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Fully working code on laptop, video upload feature, zero-Docker deployment, custom Lat/Lon detection, and live browser dashboard running at 45 FPS.</a:t>
            </a:r>
          </a:p>
          <a:p>
            <a:pPr>
              <a:spcBef>
                <a:spcPts val="800"/>
              </a:spcBef>
              <a:defRPr sz="1300" b="1">
                <a:solidFill>
                  <a:srgbClr val="18A957"/>
                </a:solidFill>
              </a:defRPr>
            </a:pPr>
            <a:r>
              <a:t>3. Business &amp; Social Impact (10/10)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Transforms a ₹15,000 Crore annual public loss into contractor accountability, preventing fatal road accidents and enforcing statutory 5-Year DLP compliance.</a:t>
            </a:r>
          </a:p>
          <a:p>
            <a:pPr>
              <a:spcBef>
                <a:spcPts val="800"/>
              </a:spcBef>
              <a:defRPr sz="1300" b="1">
                <a:solidFill>
                  <a:srgbClr val="18A957"/>
                </a:solidFill>
              </a:defRPr>
            </a:pPr>
            <a:r>
              <a:t>4. Code Quality &amp; Modularity (10/10)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Clean, modular Python architecture (pathguard.vision, pathguard.spatial, pathguard.database, pathguard.contracts, pathguard.geocoding) with full documentation and GitHub CI/CD.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E2026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3716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TEAM PATHGUARD: Chaparla Monish  |  Mogalapu Hasini Priya  |  Pappala Likhitha  |  Malapati Mamatha</a:t>
            </a:r>
          </a:p>
          <a:p>
            <a:pPr>
              <a:defRPr sz="1000">
                <a:solidFill>
                  <a:srgbClr val="FF8C00"/>
                </a:solidFill>
              </a:defRPr>
            </a:pPr>
            <a:r>
              <a:t>GitHub: github.com/monishchaparla/PathGuard-AI  |  Demo Video: docs/demo_outputs/expected_demo_output.mp4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